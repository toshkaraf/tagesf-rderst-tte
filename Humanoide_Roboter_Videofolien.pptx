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il 1: Geschichte der humanoiden Roboter" id="{7f15dea6-5861-bed3-c18f-952dbd1e5fca}">
          <p14:sldIdLst>
            <p14:sldId id="257"/>
            <p14:sldId id="258"/>
            <p14:sldId id="259"/>
            <p14:sldId id="260"/>
            <p14:sldId id="261"/>
            <p14:sldId id="262"/>
            <p14:sldId id="263"/>
          </p14:sldIdLst>
        </p14:section>
        <p14:section name="Teil 2: Sport, Athletik und Wettkämpfe" id="{3b647fa4-8067-3194-b60d-d5b7160c9f3f}">
          <p14:sldIdLst>
            <p14:sldId id="264"/>
            <p14:sldId id="265"/>
            <p14:sldId id="266"/>
            <p14:sldId id="267"/>
            <p14:sldId id="268"/>
            <p14:sldId id="269"/>
            <p14:sldId id="270"/>
            <p14:sldId id="271"/>
            <p14:sldId id="272"/>
            <p14:sldId id="273"/>
          </p14:sldIdLst>
        </p14:section>
        <p14:section name="Teil 3: Industrie &amp; Fabriken" id="{16ab76e2-e64e-355f-63e9-a52c75829f4e}">
          <p14:sldIdLst>
            <p14:sldId id="274"/>
            <p14:sldId id="275"/>
            <p14:sldId id="276"/>
            <p14:sldId id="277"/>
            <p14:sldId id="278"/>
            <p14:sldId id="279"/>
            <p14:sldId id="280"/>
          </p14:sldIdLst>
        </p14:section>
        <p14:section name="Teil 4: Künstliche Intelligenz &amp; Schlüsseltechnologien" id="{ca0f36b2-5748-8fc5-00d2-18995cdc1855}">
          <p14:sldIdLst>
            <p14:sldId id="281"/>
            <p14:sldId id="282"/>
            <p14:sldId id="283"/>
            <p14:sldId id="284"/>
            <p14:sldId id="285"/>
            <p14:sldId id="286"/>
            <p14:sldId id="287"/>
            <p14:sldId id="288"/>
            <p14:sldId id="289"/>
            <p14:sldId id="290"/>
          </p14:sldIdLst>
        </p14:section>
        <p14:section name="Teil 5: Haushaltsroboter &amp; Zukunftsprognosen" id="{aff1fec9-1b4b-711a-41e8-a047e5254c1b}">
          <p14:sldIdLst>
            <p14:sldId id="291"/>
            <p14:sldId id="292"/>
            <p14:sldId id="293"/>
            <p14:sldId id="294"/>
            <p14:sldId id="295"/>
            <p14:sldId id="296"/>
            <p14:sldId id="297"/>
            <p14:sldId id="298"/>
            <p14:sldId id="299"/>
            <p14:sldId id="300"/>
            <p14:sldId id="301"/>
            <p14:sldId id="302"/>
            <p14:sldId id="303"/>
            <p14:sldId id="3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Titelfolie. Foto: Valkyrie (NASA), Wikimedia Commons. Lizenz bitte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Ein moderner Roboter und ein Mensch reichen sich die Hand. | Foto: Valkyrie (NASA),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Historische Konstruktionszeichnung von Leonardo da Vincis mechanischem Ritter im Harnisch. | Foto: Leonardos Roboter, Nachbau,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Die historischen Roboter WABOT-1 und Honda ASIMO im Vergleich. | Foto: Honda ASIMO,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Der hydraulische Roboter Atlas bei Tests auf unebenem Gelände im Wald und Labor. | Foto: Atlas (Boston Dynamics), Wikimedia Commons (Lizenz vor Veröffentlichung prüfen). | Video: https://www.youtube.com/watch?v=-e1_QhJ1EhQ (Atlas Gets a Grip | Boston Dynamics). Im Original-Dokument angegeben als: ▶ Boston Dynamics: Farewell to HD Atlas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4: https://www.youtube.com/watch?v=-e1_QhJ1EhQ (Atlas Gets a Grip | Boston Dynamics).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Der schlanke elektrische Atlas mit rundem Kopfsensor beim flüssigen Aufstehen. | Video: https://www.youtube.com/watch?v=29ECwExc-_M (All New Atlas | Boston Dynamics). Im Original-Dokument angegeben als: ▶ Boston Dynamics: An Electric New Era for Atlas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5: https://www.youtube.com/watch?v=29ECwExc-_M (All New Atlas | Boston Dynamics).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Zweibeinige Roboter an der Startlinie einer roten Stadion-Laufbahn und beim Fußball.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Zwei humanoide Kampfroboter duellieren sich im Ring vor Publikum. | Video: https://www.youtube.com/shorts/wyNPzyUtwI0 (Humanoid robots fight in cage match in Shanghai (Al Jazeera)). Im Original-Dokument angegeben als: ▶ URKL: Humanoid Robot Boxing Match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7: https://www.youtube.com/shorts/wyNPzyUtwI0 (Humanoid robots fight in cage match in Shanghai (Al Jazeera)).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Ein menschlicher Kampfsportler im kontrollierten Sparring mit einem humanoiden Roboter. | Video: https://www.youtube.com/watch?v=4rg2sB6ELtk (First Human VS. Robot Fight in History). Im Original-Dokument angegeben als: ▶ First Human vs Humanoid Robot Fight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8: https://www.youtube.com/watch?v=4rg2sB6ELtk (First Human VS. Robot Fight in History).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Humanoider Sprint-Roboter und ein autonomer Läufer auf der Straße beim Halbmarathon.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Atlas springt rückwärts von einem Holzkasten und landet ausbalanciert auf den Füßen. | Video: https://www.youtube.com/watch?v=tF4DML7FIWk (Atlas | Partners in Parkour). Im Original-Dokument angegeben als: ▶ Boston Dynamics: Atlas Parkour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10: https://www.youtube.com/watch?v=tF4DML7FIWk (Atlas | Partners in Parkour).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Roboter tanzen synchron im Studio mit flüssigen Drehungen und Tanzschritten. | Video: https://www.youtube.com/watch?v=fn3KWM1kuAw (Do You Love Me? | Boston Dynamics). Im Original-Dokument angegeben als: ▶ Boston Dynamics: Do You Love Me?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11: https://www.youtube.com/watch?v=fn3KWM1kuAw (Do You Love Me? | Boston Dynamics).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Humanoide Roboter an einer Fertigungsstraße in einer abgedunkelten Fabrikhalle.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Tesla Optimus greift zielsicher nach zylindrischen Batteriezellen und setzt sie in Träger ein. | Foto: Tesla Optimus, Wikimedia Commons (Lizenz vor Veröffentlichung prüfen). | Video: https://www.youtube.com/watch?v=eCNVet_wXGA (Tesla Optimus Is Learning Everyday Tasks!). Im Original-Dokument angegeben als: ▶ Tesla Optimus: Autonomous Task Handling in Factory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13: https://www.youtube.com/watch?v=eCNVet_wXGA (Tesla Optimus Is Learning Everyday Tasks!).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Präzisionskamera am Kopf des Roboters scannt glänzende Karosserieteile ab.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Der schwarze humanoide Roboter Figure 02 montiert Metallteile in der Fabrik.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Humanoider Roboter dockt mit dem Rücken an eine magnetische Ladesäule an.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Weltkarte mit leuchtenden Innovationszentren für fortschrittliche Robotik.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Grafische Darstellung eines neuronalen Netzwerks, das Sensorik und Motorik vernetzt.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Taktile Roboterfinger mit weichen Silikonkappen greifen behutsam ein Hühnerei.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3D-Physiksimulation am Monitor zeigt Hunderte parallele virtuelle Trainingsroboter. | Video: https://www.youtube.com/watch?v=93Is26tQ07o (Simulate Robot Fleets in Digital Twins (NVIDIA Omniverse)). Im Original-Dokument angegeben als: Simulate Robot Fleets in Digital Twins (NVIDIA Omniverse)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20: https://www.youtube.com/watch?v=93Is26tQ07o (Simulate Robot Fleets in Digital Twins (NVIDIA Omniverse)).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Sanfte Berührung zwischen einem menschlichen Arm und einem weich nachgebenden Roboterarm. | Video: https://www.youtube.com/watch?v=rruX0RrnRcw (Unitree Humanoid Withstands Kicks and Shoves). Im Original-Dokument angegeben als: Unitree Humanoid Withstands Kicks and Shoves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21: https://www.youtube.com/watch?v=rruX0RrnRcw (Unitree Humanoid Withstands Kicks and Shoves).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Querschnitt eines Elektromotors und ein modulares Akkupaket. | Video: https://www.youtube.com/watch?v=ZQ4Sqihq_kQ (Humanoid Robot Can Swap Its Own Battery Pack (CNET)). Im Original-Dokument angegeben als: Humanoid Robot Can Swap Its Own Battery Pack (CNET)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22: https://www.youtube.com/watch?v=ZQ4Sqihq_kQ (Humanoid Robot Can Swap Its Own Battery Pack (CNET)).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3D-Tiefenkarte eines Wohnraums mit erkannten Objekten und Hindernissen. | Video: https://www.youtube.com/watch?v=QSnv7bEbrac (How Robots Build Maps (LiDAR + SLAM Explained)). Im Original-Dokument angegeben als: How Robots Build Maps (LiDAR + SLAM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23: https://www.youtube.com/watch?v=QSnv7bEbrac (How Robots Build Maps (LiDAR + SLAM Explained)).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1X NEO im Wohnzimmer in gemütlicher Umgebung auf Augenhöhe mit den Bewohnern. | Video: https://www.youtube.com/watch?v=lS_z60kjVEk (NEO is Starting to Learn on Its Own (1X)). Im Original-Dokument angegeben als: ▶ 1X NEO: The Robot That Lives With You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24: https://www.youtube.com/watch?v=lS_z60kjVEk (NEO is Starting to Learn on Its Own (1X)).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Roboterhände falten ein weißes Handtuch, daneben der kompakte Unitree G1. | Video: https://www.youtube.com/watch?v=tckyf12vLE4 (San Francisco company debuts laundry-folding robot (KTVU)). Im Original-Dokument angegeben als: San Francisco company debuts laundry-folding robot (KTVU)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25: https://www.youtube.com/watch?v=tckyf12vLE4 (San Francisco company debuts laundry-folding robot (KTVU)).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Roboter stützt sanft eine ältere Person beim Gehen im Flur eines Seniorenheims. | Video: https://www.youtube.com/watch?v=OO-yrowDiAo (Meet Abi, the humanoid robot in care homes (Reuters)). Im Original-Dokument angegeben als: Meet Abi, the humanoid robot in care homes (Reuters)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26: https://www.youtube.com/watch?v=OO-yrowDiAo (Meet Abi, the humanoid robot in care homes (Reuters)).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Wachstumsdiagramm und eine Tablet-App für die Roboter-Miete. | Video: https://www.youtube.com/watch?v=uw4CrEWjO2Y (Rentable humanoid robots (CBS Texas)). Im Original-Dokument angegeben als: Rentable humanoid robots (CBS Texas)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27: https://www.youtube.com/watch?v=uw4CrEWjO2Y (Rentable humanoid robots (CBS Texas)).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Ein digitales Schloss-Symbol vor einem Wohnzimmer-Hintergrund für Datenschutz. | Video: https://www.youtube.com/watch?v=f3c4mQty_so (I Tried the First Humanoid Home Robot (WSJ)). Im Original-Dokument angegeben als: I Tried the First Humanoid Home Robot (WSJ)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28: https://www.youtube.com/watch?v=f3c4mQty_so (I Tried the First Humanoid Home Robot (WSJ)).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Ingenieure prüfen neue Materialien und Batterien im Entwicklungszentrum. | Video: https://www.youtube.com/watch?v=KRyqxhB38JY (Battery Life Doubled from 4 to 8 Hours (The Neuron)). Im Original-Dokument angegeben als: Battery Life Doubled from 4 to 8 Hours (The Neuron)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29: https://www.youtube.com/watch?v=KRyqxhB38JY (Battery Life Doubled from 4 to 8 Hours (The Neuron)).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Mensch und humanoider Roboter stehen gemeinsam auf einer Aussichtsplattform. | Video: https://www.youtube.com/watch?v=U1JJN1tEvJw (Will humans and robots work together soon? (CGTN)). Im Original-Dokument angegeben als: Will humans and robots work together soon? (CGTN)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zu Folie 30: https://www.youtube.com/watch?v=U1JJN1tEvJw (Will humans and robots work together soon? (CGTN)). Falls es nicht abspielt: Link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897880" cy="5143500"/>
          </a:xfrm>
          <a:prstGeom prst="rect">
            <a:avLst/>
          </a:prstGeom>
          <a:solidFill>
            <a:srgbClr val="EAF1F7"/>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33"/>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slide" Target="slide6.xml"/><Relationship Id="rId3" Type="http://schemas.openxmlformats.org/officeDocument/2006/relationships/hyperlink" Target="https://www.youtube.com/watch?v=-e1_QhJ1EhQ" TargetMode="External"/><Relationship Id="rId1" Type="http://schemas.openxmlformats.org/officeDocument/2006/relationships/image" Target="../media/image-5-1.jp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arget="https://www.youtube.com/embed/-e1_QhJ1EhQ" TargetMode="External" Type="http://schemas.openxmlformats.org/officeDocument/2006/relationships/video"/><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8.xml"/><Relationship Id="rId3" Type="http://schemas.openxmlformats.org/officeDocument/2006/relationships/slide" Target="slide8.xml"/><Relationship Id="rId4" Type="http://schemas.openxmlformats.org/officeDocument/2006/relationships/slide" Target="slide8.xml"/><Relationship Id="rId5" Type="http://schemas.openxmlformats.org/officeDocument/2006/relationships/slide" Target="slide8.xml"/><Relationship Id="rId6" Type="http://schemas.openxmlformats.org/officeDocument/2006/relationships/hyperlink" Target="https://www.youtube.com/watch?v=29ECwExc-_M" TargetMode="External"/><Relationship Id="rId1" Type="http://schemas.openxmlformats.org/officeDocument/2006/relationships/image" Target="../media/image-7-1.jp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arget="https://www.youtube.com/embed/29ECwExc-_M" TargetMode="External" Type="http://schemas.openxmlformats.org/officeDocument/2006/relationships/video"/><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slide" Target="slide11.xml"/><Relationship Id="rId3" Type="http://schemas.openxmlformats.org/officeDocument/2006/relationships/slide" Target="slide11.xml"/><Relationship Id="rId4" Type="http://schemas.openxmlformats.org/officeDocument/2006/relationships/slide" Target="slide11.xml"/><Relationship Id="rId5" Type="http://schemas.openxmlformats.org/officeDocument/2006/relationships/slide" Target="slide11.xml"/><Relationship Id="rId6" Type="http://schemas.openxmlformats.org/officeDocument/2006/relationships/hyperlink" Target="https://www.youtube.com/shorts/wyNPzyUtwI0" TargetMode="External"/><Relationship Id="rId1" Type="http://schemas.openxmlformats.org/officeDocument/2006/relationships/image" Target="../media/image-10-1.jp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arget="https://www.youtube.com/embed/wyNPzyUtwI0" TargetMode="External" Type="http://schemas.openxmlformats.org/officeDocument/2006/relationships/video"/><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slide" Target="slide13.xml"/><Relationship Id="rId3" Type="http://schemas.openxmlformats.org/officeDocument/2006/relationships/slide" Target="slide13.xml"/><Relationship Id="rId4" Type="http://schemas.openxmlformats.org/officeDocument/2006/relationships/slide" Target="slide13.xml"/><Relationship Id="rId5" Type="http://schemas.openxmlformats.org/officeDocument/2006/relationships/slide" Target="slide13.xml"/><Relationship Id="rId6" Type="http://schemas.openxmlformats.org/officeDocument/2006/relationships/hyperlink" Target="https://www.youtube.com/watch?v=4rg2sB6ELtk" TargetMode="External"/><Relationship Id="rId1" Type="http://schemas.openxmlformats.org/officeDocument/2006/relationships/image" Target="../media/image-12-1.jp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arget="https://www.youtube.com/embed/4rg2sB6ELtk" TargetMode="External" Type="http://schemas.openxmlformats.org/officeDocument/2006/relationships/video"/><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slide" Target="slide16.xml"/><Relationship Id="rId3" Type="http://schemas.openxmlformats.org/officeDocument/2006/relationships/slide" Target="slide16.xml"/><Relationship Id="rId4" Type="http://schemas.openxmlformats.org/officeDocument/2006/relationships/slide" Target="slide16.xml"/><Relationship Id="rId5" Type="http://schemas.openxmlformats.org/officeDocument/2006/relationships/slide" Target="slide16.xml"/><Relationship Id="rId6" Type="http://schemas.openxmlformats.org/officeDocument/2006/relationships/hyperlink" Target="https://www.youtube.com/watch?v=tF4DML7FIWk" TargetMode="External"/><Relationship Id="rId1" Type="http://schemas.openxmlformats.org/officeDocument/2006/relationships/image" Target="../media/image-15-1.jpg"/><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arget="https://www.youtube.com/embed/tF4DML7FIWk" TargetMode="External" Type="http://schemas.openxmlformats.org/officeDocument/2006/relationships/video"/><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slide" Target="slide18.xml"/><Relationship Id="rId3" Type="http://schemas.openxmlformats.org/officeDocument/2006/relationships/slide" Target="slide18.xml"/><Relationship Id="rId4" Type="http://schemas.openxmlformats.org/officeDocument/2006/relationships/slide" Target="slide18.xml"/><Relationship Id="rId5" Type="http://schemas.openxmlformats.org/officeDocument/2006/relationships/slide" Target="slide18.xml"/><Relationship Id="rId6" Type="http://schemas.openxmlformats.org/officeDocument/2006/relationships/hyperlink" Target="https://www.youtube.com/watch?v=fn3KWM1kuAw" TargetMode="External"/><Relationship Id="rId1" Type="http://schemas.openxmlformats.org/officeDocument/2006/relationships/image" Target="../media/image-17-1.jp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arget="https://www.youtube.com/embed/fn3KWM1kuAw" TargetMode="External" Type="http://schemas.openxmlformats.org/officeDocument/2006/relationships/video"/><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slide" Target="slide21.xml"/><Relationship Id="rId3" Type="http://schemas.openxmlformats.org/officeDocument/2006/relationships/hyperlink" Target="https://www.youtube.com/watch?v=eCNVet_wXGA" TargetMode="External"/><Relationship Id="rId1" Type="http://schemas.openxmlformats.org/officeDocument/2006/relationships/image" Target="../media/image-20-1.jp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arget="https://www.youtube.com/embed/eCNVet_wXGA" TargetMode="External" Type="http://schemas.openxmlformats.org/officeDocument/2006/relationships/video"/><Relationship Id="rId2" Type="http://schemas.openxmlformats.org/officeDocument/2006/relationships/image" Target="../media/image-21-2.pn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slide" Target="slide29.xml"/><Relationship Id="rId3" Type="http://schemas.openxmlformats.org/officeDocument/2006/relationships/slide" Target="slide29.xml"/><Relationship Id="rId4" Type="http://schemas.openxmlformats.org/officeDocument/2006/relationships/slide" Target="slide29.xml"/><Relationship Id="rId5" Type="http://schemas.openxmlformats.org/officeDocument/2006/relationships/slide" Target="slide29.xml"/><Relationship Id="rId6" Type="http://schemas.openxmlformats.org/officeDocument/2006/relationships/hyperlink" Target="https://www.youtube.com/watch?v=93Is26tQ07o" TargetMode="External"/><Relationship Id="rId1" Type="http://schemas.openxmlformats.org/officeDocument/2006/relationships/image" Target="../media/image-28-1.jpg"/><Relationship Id="rId7" Type="http://schemas.openxmlformats.org/officeDocument/2006/relationships/slideLayout" Target="../slideLayouts/slideLayout2.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arget="https://www.youtube.com/embed/93Is26tQ07o" TargetMode="External" Type="http://schemas.openxmlformats.org/officeDocument/2006/relationships/video"/><Relationship Id="rId2" Type="http://schemas.openxmlformats.org/officeDocument/2006/relationships/image" Target="../media/image-29-2.png"/><Relationship Id="rId3" Type="http://schemas.openxmlformats.org/officeDocument/2006/relationships/slideLayout" Target="../slideLayouts/slideLayout3.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slide" Target="slide31.xml"/><Relationship Id="rId3" Type="http://schemas.openxmlformats.org/officeDocument/2006/relationships/slide" Target="slide31.xml"/><Relationship Id="rId4" Type="http://schemas.openxmlformats.org/officeDocument/2006/relationships/slide" Target="slide31.xml"/><Relationship Id="rId5" Type="http://schemas.openxmlformats.org/officeDocument/2006/relationships/slide" Target="slide31.xml"/><Relationship Id="rId6" Type="http://schemas.openxmlformats.org/officeDocument/2006/relationships/hyperlink" Target="https://www.youtube.com/watch?v=rruX0RrnRcw" TargetMode="External"/><Relationship Id="rId1" Type="http://schemas.openxmlformats.org/officeDocument/2006/relationships/image" Target="../media/image-30-1.jpg"/><Relationship Id="rId7" Type="http://schemas.openxmlformats.org/officeDocument/2006/relationships/slideLayout" Target="../slideLayouts/slideLayout2.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arget="https://www.youtube.com/embed/rruX0RrnRcw" TargetMode="External" Type="http://schemas.openxmlformats.org/officeDocument/2006/relationships/video"/><Relationship Id="rId2" Type="http://schemas.openxmlformats.org/officeDocument/2006/relationships/image" Target="../media/image-31-2.png"/><Relationship Id="rId3" Type="http://schemas.openxmlformats.org/officeDocument/2006/relationships/slideLayout" Target="../slideLayouts/slideLayout3.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slide" Target="slide33.xml"/><Relationship Id="rId3" Type="http://schemas.openxmlformats.org/officeDocument/2006/relationships/slide" Target="slide33.xml"/><Relationship Id="rId4" Type="http://schemas.openxmlformats.org/officeDocument/2006/relationships/slide" Target="slide33.xml"/><Relationship Id="rId5" Type="http://schemas.openxmlformats.org/officeDocument/2006/relationships/slide" Target="slide33.xml"/><Relationship Id="rId6" Type="http://schemas.openxmlformats.org/officeDocument/2006/relationships/hyperlink" Target="https://www.youtube.com/watch?v=ZQ4Sqihq_kQ" TargetMode="External"/><Relationship Id="rId1" Type="http://schemas.openxmlformats.org/officeDocument/2006/relationships/image" Target="../media/image-32-1.jpg"/><Relationship Id="rId7" Type="http://schemas.openxmlformats.org/officeDocument/2006/relationships/slideLayout" Target="../slideLayouts/slideLayout2.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arget="https://www.youtube.com/embed/ZQ4Sqihq_kQ" TargetMode="External" Type="http://schemas.openxmlformats.org/officeDocument/2006/relationships/video"/><Relationship Id="rId2" Type="http://schemas.openxmlformats.org/officeDocument/2006/relationships/image" Target="../media/image-33-2.png"/><Relationship Id="rId3" Type="http://schemas.openxmlformats.org/officeDocument/2006/relationships/slideLayout" Target="../slideLayouts/slideLayout3.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slide" Target="slide35.xml"/><Relationship Id="rId3" Type="http://schemas.openxmlformats.org/officeDocument/2006/relationships/slide" Target="slide35.xml"/><Relationship Id="rId4" Type="http://schemas.openxmlformats.org/officeDocument/2006/relationships/slide" Target="slide35.xml"/><Relationship Id="rId5" Type="http://schemas.openxmlformats.org/officeDocument/2006/relationships/slide" Target="slide35.xml"/><Relationship Id="rId6" Type="http://schemas.openxmlformats.org/officeDocument/2006/relationships/hyperlink" Target="https://www.youtube.com/watch?v=QSnv7bEbrac" TargetMode="External"/><Relationship Id="rId1" Type="http://schemas.openxmlformats.org/officeDocument/2006/relationships/image" Target="../media/image-34-1.jpg"/><Relationship Id="rId7" Type="http://schemas.openxmlformats.org/officeDocument/2006/relationships/slideLayout" Target="../slideLayouts/slideLayout2.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arget="https://www.youtube.com/embed/QSnv7bEbrac" TargetMode="External" Type="http://schemas.openxmlformats.org/officeDocument/2006/relationships/video"/><Relationship Id="rId2" Type="http://schemas.openxmlformats.org/officeDocument/2006/relationships/image" Target="../media/image-35-2.png"/><Relationship Id="rId3" Type="http://schemas.openxmlformats.org/officeDocument/2006/relationships/slideLayout" Target="../slideLayouts/slideLayout3.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slide" Target="slide37.xml"/><Relationship Id="rId3" Type="http://schemas.openxmlformats.org/officeDocument/2006/relationships/slide" Target="slide37.xml"/><Relationship Id="rId4" Type="http://schemas.openxmlformats.org/officeDocument/2006/relationships/slide" Target="slide37.xml"/><Relationship Id="rId5" Type="http://schemas.openxmlformats.org/officeDocument/2006/relationships/slide" Target="slide37.xml"/><Relationship Id="rId6" Type="http://schemas.openxmlformats.org/officeDocument/2006/relationships/hyperlink" Target="https://www.youtube.com/watch?v=lS_z60kjVEk" TargetMode="External"/><Relationship Id="rId1" Type="http://schemas.openxmlformats.org/officeDocument/2006/relationships/image" Target="../media/image-36-1.jpg"/><Relationship Id="rId7" Type="http://schemas.openxmlformats.org/officeDocument/2006/relationships/slideLayout" Target="../slideLayouts/slideLayout2.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arget="https://www.youtube.com/embed/lS_z60kjVEk" TargetMode="External" Type="http://schemas.openxmlformats.org/officeDocument/2006/relationships/video"/><Relationship Id="rId2" Type="http://schemas.openxmlformats.org/officeDocument/2006/relationships/image" Target="../media/image-37-2.png"/><Relationship Id="rId3" Type="http://schemas.openxmlformats.org/officeDocument/2006/relationships/slideLayout" Target="../slideLayouts/slideLayout3.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 Type="http://schemas.openxmlformats.org/officeDocument/2006/relationships/slide" Target="slide39.xml"/><Relationship Id="rId3" Type="http://schemas.openxmlformats.org/officeDocument/2006/relationships/slide" Target="slide39.xml"/><Relationship Id="rId4" Type="http://schemas.openxmlformats.org/officeDocument/2006/relationships/slide" Target="slide39.xml"/><Relationship Id="rId5" Type="http://schemas.openxmlformats.org/officeDocument/2006/relationships/slide" Target="slide39.xml"/><Relationship Id="rId6" Type="http://schemas.openxmlformats.org/officeDocument/2006/relationships/hyperlink" Target="https://www.youtube.com/watch?v=tckyf12vLE4" TargetMode="External"/><Relationship Id="rId1" Type="http://schemas.openxmlformats.org/officeDocument/2006/relationships/image" Target="../media/image-38-1.jpg"/><Relationship Id="rId7" Type="http://schemas.openxmlformats.org/officeDocument/2006/relationships/slideLayout" Target="../slideLayouts/slideLayout2.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arget="https://www.youtube.com/embed/tckyf12vLE4" TargetMode="External" Type="http://schemas.openxmlformats.org/officeDocument/2006/relationships/video"/><Relationship Id="rId2" Type="http://schemas.openxmlformats.org/officeDocument/2006/relationships/image" Target="../media/image-39-2.png"/><Relationship Id="rId3" Type="http://schemas.openxmlformats.org/officeDocument/2006/relationships/slideLayout" Target="../slideLayouts/slideLayout3.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2" Type="http://schemas.openxmlformats.org/officeDocument/2006/relationships/slide" Target="slide41.xml"/><Relationship Id="rId3" Type="http://schemas.openxmlformats.org/officeDocument/2006/relationships/slide" Target="slide41.xml"/><Relationship Id="rId4" Type="http://schemas.openxmlformats.org/officeDocument/2006/relationships/slide" Target="slide41.xml"/><Relationship Id="rId5" Type="http://schemas.openxmlformats.org/officeDocument/2006/relationships/slide" Target="slide41.xml"/><Relationship Id="rId6" Type="http://schemas.openxmlformats.org/officeDocument/2006/relationships/hyperlink" Target="https://www.youtube.com/watch?v=OO-yrowDiAo" TargetMode="External"/><Relationship Id="rId1" Type="http://schemas.openxmlformats.org/officeDocument/2006/relationships/image" Target="../media/image-40-1.jpg"/><Relationship Id="rId7" Type="http://schemas.openxmlformats.org/officeDocument/2006/relationships/slideLayout" Target="../slideLayouts/slideLayout2.xml"/><Relationship Id="rId8"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arget="https://www.youtube.com/embed/OO-yrowDiAo" TargetMode="External" Type="http://schemas.openxmlformats.org/officeDocument/2006/relationships/video"/><Relationship Id="rId2" Type="http://schemas.openxmlformats.org/officeDocument/2006/relationships/image" Target="../media/image-41-2.png"/><Relationship Id="rId3" Type="http://schemas.openxmlformats.org/officeDocument/2006/relationships/slideLayout" Target="../slideLayouts/slideLayout3.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2" Type="http://schemas.openxmlformats.org/officeDocument/2006/relationships/slide" Target="slide43.xml"/><Relationship Id="rId3" Type="http://schemas.openxmlformats.org/officeDocument/2006/relationships/slide" Target="slide43.xml"/><Relationship Id="rId4" Type="http://schemas.openxmlformats.org/officeDocument/2006/relationships/slide" Target="slide43.xml"/><Relationship Id="rId5" Type="http://schemas.openxmlformats.org/officeDocument/2006/relationships/slide" Target="slide43.xml"/><Relationship Id="rId6" Type="http://schemas.openxmlformats.org/officeDocument/2006/relationships/hyperlink" Target="https://www.youtube.com/watch?v=uw4CrEWjO2Y" TargetMode="External"/><Relationship Id="rId1" Type="http://schemas.openxmlformats.org/officeDocument/2006/relationships/image" Target="../media/image-42-1.jpg"/><Relationship Id="rId7" Type="http://schemas.openxmlformats.org/officeDocument/2006/relationships/slideLayout" Target="../slideLayouts/slideLayout2.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arget="https://www.youtube.com/embed/uw4CrEWjO2Y" TargetMode="External" Type="http://schemas.openxmlformats.org/officeDocument/2006/relationships/video"/><Relationship Id="rId2" Type="http://schemas.openxmlformats.org/officeDocument/2006/relationships/image" Target="../media/image-43-2.png"/><Relationship Id="rId3" Type="http://schemas.openxmlformats.org/officeDocument/2006/relationships/slideLayout" Target="../slideLayouts/slideLayout3.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2" Type="http://schemas.openxmlformats.org/officeDocument/2006/relationships/slide" Target="slide45.xml"/><Relationship Id="rId3" Type="http://schemas.openxmlformats.org/officeDocument/2006/relationships/slide" Target="slide45.xml"/><Relationship Id="rId4" Type="http://schemas.openxmlformats.org/officeDocument/2006/relationships/slide" Target="slide45.xml"/><Relationship Id="rId5" Type="http://schemas.openxmlformats.org/officeDocument/2006/relationships/slide" Target="slide45.xml"/><Relationship Id="rId6" Type="http://schemas.openxmlformats.org/officeDocument/2006/relationships/hyperlink" Target="https://www.youtube.com/watch?v=f3c4mQty_so" TargetMode="External"/><Relationship Id="rId1" Type="http://schemas.openxmlformats.org/officeDocument/2006/relationships/image" Target="../media/image-44-1.jpg"/><Relationship Id="rId7" Type="http://schemas.openxmlformats.org/officeDocument/2006/relationships/slideLayout" Target="../slideLayouts/slideLayout2.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arget="https://www.youtube.com/embed/f3c4mQty_so" TargetMode="External" Type="http://schemas.openxmlformats.org/officeDocument/2006/relationships/video"/><Relationship Id="rId2" Type="http://schemas.openxmlformats.org/officeDocument/2006/relationships/image" Target="../media/image-45-2.png"/><Relationship Id="rId3" Type="http://schemas.openxmlformats.org/officeDocument/2006/relationships/slideLayout" Target="../slideLayouts/slideLayout3.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2" Type="http://schemas.openxmlformats.org/officeDocument/2006/relationships/slide" Target="slide47.xml"/><Relationship Id="rId3" Type="http://schemas.openxmlformats.org/officeDocument/2006/relationships/slide" Target="slide47.xml"/><Relationship Id="rId4" Type="http://schemas.openxmlformats.org/officeDocument/2006/relationships/slide" Target="slide47.xml"/><Relationship Id="rId5" Type="http://schemas.openxmlformats.org/officeDocument/2006/relationships/slide" Target="slide47.xml"/><Relationship Id="rId6" Type="http://schemas.openxmlformats.org/officeDocument/2006/relationships/hyperlink" Target="https://www.youtube.com/watch?v=KRyqxhB38JY" TargetMode="External"/><Relationship Id="rId1" Type="http://schemas.openxmlformats.org/officeDocument/2006/relationships/image" Target="../media/image-46-1.jpg"/><Relationship Id="rId7" Type="http://schemas.openxmlformats.org/officeDocument/2006/relationships/slideLayout" Target="../slideLayouts/slideLayout2.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arget="https://www.youtube.com/embed/KRyqxhB38JY" TargetMode="External" Type="http://schemas.openxmlformats.org/officeDocument/2006/relationships/video"/><Relationship Id="rId2" Type="http://schemas.openxmlformats.org/officeDocument/2006/relationships/image" Target="../media/image-47-2.png"/><Relationship Id="rId3" Type="http://schemas.openxmlformats.org/officeDocument/2006/relationships/slideLayout" Target="../slideLayouts/slideLayout3.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2" Type="http://schemas.openxmlformats.org/officeDocument/2006/relationships/slide" Target="slide49.xml"/><Relationship Id="rId3" Type="http://schemas.openxmlformats.org/officeDocument/2006/relationships/slide" Target="slide49.xml"/><Relationship Id="rId4" Type="http://schemas.openxmlformats.org/officeDocument/2006/relationships/slide" Target="slide49.xml"/><Relationship Id="rId5" Type="http://schemas.openxmlformats.org/officeDocument/2006/relationships/slide" Target="slide49.xml"/><Relationship Id="rId6" Type="http://schemas.openxmlformats.org/officeDocument/2006/relationships/hyperlink" Target="https://www.youtube.com/watch?v=U1JJN1tEvJw" TargetMode="External"/><Relationship Id="rId1" Type="http://schemas.openxmlformats.org/officeDocument/2006/relationships/image" Target="../media/image-48-1.jpg"/><Relationship Id="rId7" Type="http://schemas.openxmlformats.org/officeDocument/2006/relationships/slideLayout" Target="../slideLayouts/slideLayout2.xml"/><Relationship Id="rId8"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arget="https://www.youtube.com/embed/U1JJN1tEvJw" TargetMode="External" Type="http://schemas.openxmlformats.org/officeDocument/2006/relationships/video"/><Relationship Id="rId2" Type="http://schemas.openxmlformats.org/officeDocument/2006/relationships/image" Target="../media/image-49-2.png"/><Relationship Id="rId3" Type="http://schemas.openxmlformats.org/officeDocument/2006/relationships/slideLayout" Target="../slideLayouts/slideLayout3.xml"/><Relationship Id="rId4"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umanoider Roboter Valkyrie">    </p:cNvPr>
          <p:cNvPicPr>
            <a:picLocks noChangeAspect="1"/>
          </p:cNvPicPr>
          <p:nvPr/>
        </p:nvPicPr>
        <p:blipFill>
          <a:blip r:embed="rId1"/>
          <a:stretch>
            <a:fillRect/>
          </a:stretch>
        </p:blipFill>
        <p:spPr>
          <a:xfrm>
            <a:off x="5394960" y="640080"/>
            <a:ext cx="3383280" cy="3566160"/>
          </a:xfrm>
          <a:prstGeom prst="rect">
            <a:avLst/>
          </a:prstGeom>
        </p:spPr>
      </p:pic>
      <p:sp>
        <p:nvSpPr>
          <p:cNvPr id="3" name="Titel"/>
          <p:cNvSpPr txBox="1"/>
          <p:nvPr/>
        </p:nvSpPr>
        <p:spPr>
          <a:xfrm>
            <a:off x="548640" y="1097280"/>
            <a:ext cx="4572000" cy="822960"/>
          </a:xfrm>
          <a:prstGeom prst="rect">
            <a:avLst/>
          </a:prstGeom>
          <a:noFill/>
          <a:ln/>
        </p:spPr>
        <p:txBody>
          <a:bodyPr wrap="square" lIns="0" tIns="0" rIns="0" bIns="0" rtlCol="0" anchor="ctr"/>
          <a:lstStyle/>
          <a:p>
            <a:pPr indent="0" marL="0">
              <a:buNone/>
            </a:pPr>
            <a:r>
              <a:rPr lang="en-US" sz="3800" b="1" dirty="0">
                <a:solidFill>
                  <a:schemeClr val="bg1"/>
                </a:solidFill>
              </a:rPr>
              <a:t>Humanoide Roboter</a:t>
            </a:r>
            <a:endParaRPr lang="en-US" sz="3800" dirty="0"/>
          </a:p>
        </p:txBody>
      </p:sp>
      <p:sp>
        <p:nvSpPr>
          <p:cNvPr id="4" name="Text 1"/>
          <p:cNvSpPr txBox="1"/>
          <p:nvPr/>
        </p:nvSpPr>
        <p:spPr>
          <a:xfrm>
            <a:off x="548640" y="1920240"/>
            <a:ext cx="4572000" cy="548640"/>
          </a:xfrm>
          <a:prstGeom prst="rect">
            <a:avLst/>
          </a:prstGeom>
          <a:noFill/>
          <a:ln/>
        </p:spPr>
        <p:txBody>
          <a:bodyPr wrap="square" lIns="0" tIns="0" rIns="0" bIns="0" rtlCol="0" anchor="ctr"/>
          <a:lstStyle/>
          <a:p>
            <a:pPr indent="0" marL="0">
              <a:buNone/>
            </a:pPr>
            <a:r>
              <a:rPr lang="en-US" sz="2400" dirty="0">
                <a:solidFill>
                  <a:srgbClr val="FF7A1A"/>
                </a:solidFill>
              </a:rPr>
              <a:t>Geschichte und Gegenwart</a:t>
            </a:r>
            <a:endParaRPr lang="en-US" sz="2400" dirty="0"/>
          </a:p>
        </p:txBody>
      </p:sp>
      <p:sp>
        <p:nvSpPr>
          <p:cNvPr id="5" name="Text 2"/>
          <p:cNvSpPr txBox="1"/>
          <p:nvPr/>
        </p:nvSpPr>
        <p:spPr>
          <a:xfrm>
            <a:off x="548640" y="2743200"/>
            <a:ext cx="4572000" cy="365760"/>
          </a:xfrm>
          <a:prstGeom prst="rect">
            <a:avLst/>
          </a:prstGeom>
          <a:noFill/>
          <a:ln/>
        </p:spPr>
        <p:txBody>
          <a:bodyPr wrap="square" lIns="0" tIns="0" rIns="0" bIns="0" rtlCol="0" anchor="ctr"/>
          <a:lstStyle/>
          <a:p>
            <a:pPr indent="0" marL="0">
              <a:buNone/>
            </a:pPr>
            <a:r>
              <a:rPr lang="en-US" sz="1400" dirty="0">
                <a:solidFill>
                  <a:srgbClr val="CADCFC"/>
                </a:solidFill>
              </a:rPr>
              <a:t>Kurzversion · 30 Folien · einfaches Deutsch (B1)</a:t>
            </a:r>
            <a:endParaRPr lang="en-US" sz="1400" dirty="0"/>
          </a:p>
        </p:txBody>
      </p:sp>
      <p:sp>
        <p:nvSpPr>
          <p:cNvPr id="6" name="Text 3"/>
          <p:cNvSpPr txBox="1"/>
          <p:nvPr/>
        </p:nvSpPr>
        <p:spPr>
          <a:xfrm>
            <a:off x="5394960" y="4251960"/>
            <a:ext cx="3383280" cy="228600"/>
          </a:xfrm>
          <a:prstGeom prst="rect">
            <a:avLst/>
          </a:prstGeom>
          <a:noFill/>
          <a:ln/>
        </p:spPr>
        <p:txBody>
          <a:bodyPr wrap="square" lIns="0" tIns="0" rIns="0" bIns="0" rtlCol="0" anchor="ctr"/>
          <a:lstStyle/>
          <a:p>
            <a:pPr indent="0" marL="0">
              <a:buNone/>
            </a:pPr>
            <a:r>
              <a:rPr lang="en-US" sz="1000" dirty="0">
                <a:solidFill>
                  <a:srgbClr val="8FB8D8"/>
                </a:solidFill>
              </a:rPr>
              <a:t>Foto: NASA / Wikimedia Commons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EINFÜHRUNG</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Die Evolution der humanoiden Roboter</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900" dirty="0">
                <a:solidFill>
                  <a:schemeClr val="tx1"/>
                </a:solidFill>
              </a:rPr>
              <a:t>Humanoide Roboter faszinieren die Menschheit seit vielen Jahrhunderten. Heute entwickeln sie sich dank künstlicher Intelligenz schneller als jemals zuvor.</a:t>
            </a:r>
            <a:endParaRPr lang="en-US" sz="29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01 / 30</a:t>
            </a:r>
            <a:endParaRPr lang="en-US" sz="1000" dirty="0"/>
          </a:p>
        </p:txBody>
      </p:sp>
      <p:pic>
        <p:nvPicPr>
          <p:cNvPr id="6" name="Foto" descr="Ein moderner Roboter und ein Mensch reichen sich die Hand.">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Valkyrie (NASA) / Wikimedia Commons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Leonardos Roboter-Ritter (1495)</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Schon im 15. Jahrhundert entwarf Leonardo da Vinci einen mechanischen Ritter mit Seilzügen und Rollen. Diese historische Zeichnung gilt heute als der erste Entwurf eines humanoiden Roboters.</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02 / 30</a:t>
            </a:r>
            <a:endParaRPr lang="en-US" sz="1000" dirty="0"/>
          </a:p>
        </p:txBody>
      </p:sp>
      <p:pic>
        <p:nvPicPr>
          <p:cNvPr id="6" name="Foto" descr="Historische Konstruktionszeichnung von Leonardo da Vincis mechanischem Ritter im Harnisch.">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Leonardos Roboter, Nachbau / Wikimedia Commons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Pioniere: WABOT-1 und Honda ASIMO</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500" dirty="0">
                <a:solidFill>
                  <a:schemeClr val="tx1"/>
                </a:solidFill>
              </a:rPr>
              <a:t>Nach dem ersten zweibeinigen Roboter WABOT-1 aus Japan demonstrierte Honda mit ASIMO Jahre später erstmals flüssiges Gehen. Diese frühen Modelle begeisterten Millionen Menschen weltweit für die moderne Robotik.</a:t>
            </a:r>
            <a:endParaRPr lang="en-US" sz="25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03 / 30</a:t>
            </a:r>
            <a:endParaRPr lang="en-US" sz="1000" dirty="0"/>
          </a:p>
        </p:txBody>
      </p:sp>
      <p:pic>
        <p:nvPicPr>
          <p:cNvPr id="6" name="Foto" descr="Die historischen Roboter WABOT-1 und Honda ASIMO im Vergleich.">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Honda ASIMO / Wikimedia Commons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Boston Dynamics Atlas: Hydraulische Kraft (2013)</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Die Ingenieure von Boston Dynamics bauten einen extrem robusten Roboter für raues Gelände. Seine kraftvollen Hydraulik-Muskeln ermöglichten erstaunlich dynamische Sprünge.</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04 / 30</a:t>
            </a:r>
            <a:endParaRPr lang="en-US" sz="1000" dirty="0"/>
          </a:p>
        </p:txBody>
      </p:sp>
      <p:pic>
        <p:nvPicPr>
          <p:cNvPr id="6" name="Foto" descr="Der hydraulische Roboter Atlas bei Tests auf unebenem Gelände im Wald und Labor.">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Atlas (Boston Dynamics) / Wikimedia Commons</a:t>
            </a:r>
            <a:endParaRPr lang="en-US" sz="1000" dirty="0"/>
          </a:p>
        </p:txBody>
      </p:sp>
      <p:sp>
        <p:nvSpPr>
          <p:cNvPr id="8"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2"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3" invalidUrl="" action="" tgtFrame="" tooltip="Auf YouTube öffnen" history="1" highlightClick="0" endSnd="0">
                  <a:extLst>
                    <a:ext uri="{A12FA001-AC4F-418D-AE19-62706E023703}">
                      <ahyp:hlinkClr xmlns:ahyp="http://schemas.microsoft.com/office/drawing/2018/hyperlinkcolor" val="tx"/>
                    </a:ext>
                  </a:extLst>
                </a:hlinkClick>
              </a:rPr>
              <a:t>Atlas Gets a Grip | Boston Dynamics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Der neue vollelektrische Atlas (2024–2026)</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Der neue Atlas besitzt moderne Elektromotoren und kann seine Gelenke um 360 Grad rotieren. Dadurch bewegt er sich viel leiser, geschmeidiger und energieeffizienter als früher.</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05 / 30</a:t>
            </a:r>
            <a:endParaRPr lang="en-US" sz="1000" dirty="0"/>
          </a:p>
        </p:txBody>
      </p:sp>
      <p:pic>
        <p:nvPicPr>
          <p:cNvPr id="6" name="Video-Vorschau" descr="Der schlanke elektrische Atlas mit rundem Kopfsensor beim flüssigen Aufstehen.">
            <a:hlinkClick r:id="rId2" tooltip="Video auf der nächsten Folie" action="ppaction://hlinksldjump"/>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action="ppaction://hlinksldjum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action="ppaction://hlinksldjum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Der schlanke elektrische Atlas mit rundem Kopfsensor beim flüssigen Aufstehen.</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6" invalidUrl="" action="" tgtFrame="" tooltip="Auf YouTube öffnen" history="1" highlightClick="0" endSnd="0">
                  <a:extLst>
                    <a:ext uri="{A12FA001-AC4F-418D-AE19-62706E023703}">
                      <ahyp:hlinkClr xmlns:ahyp="http://schemas.microsoft.com/office/drawing/2018/hyperlinkcolor" val="tx"/>
                    </a:ext>
                  </a:extLst>
                </a:hlinkClick>
              </a:rPr>
              <a:t>All New Atlas | Boston Dynamics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Roboter-Wettkämpfe: Olympia und RoboCup</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In Peking messen sich Humanoide bereits in sportlichen Disziplinen wie dem Sprint, während beim RoboCup autonome Teams Fußball spielen. Das ehrgeizige Ziel ist ein Sieg gegen menschliche Fußball-Weltmeister bis zum Jahr 2050.</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06 / 30</a:t>
            </a:r>
            <a:endParaRPr lang="en-US" sz="1000" dirty="0"/>
          </a:p>
        </p:txBody>
      </p:sp>
      <p:pic>
        <p:nvPicPr>
          <p:cNvPr id="6" name="Foto" descr="Zweibeinige Roboter an der Startlinie einer roten Stadion-Laufbahn und beim Fußball.">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URKL: Professionelles Roboter-Boxen im Ring</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In neuen Kampfsportligen wie der URKL treten humanoide Roboter in einem echten Boxring gegeneinander an. Fällt ein Roboter zu Boden, muss er innerhalb weniger Sekunden selbstständig aufstehen.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07 / 30</a:t>
            </a:r>
            <a:endParaRPr lang="en-US" sz="1000" dirty="0"/>
          </a:p>
        </p:txBody>
      </p:sp>
      <p:pic>
        <p:nvPicPr>
          <p:cNvPr id="6" name="Video-Vorschau" descr="Zwei humanoide Kampfroboter duellieren sich im Ring vor Publikum.">
            <a:hlinkClick r:id="rId2" tooltip="Video auf der nächsten Folie" action="ppaction://hlinksldjump"/>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action="ppaction://hlinksldjum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action="ppaction://hlinksldjum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Zwei humanoide Kampfroboter duellieren sich im Ring vor Publikum.</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6" invalidUrl="" action="" tgtFrame="" tooltip="Auf YouTube öffnen" history="1" highlightClick="0" endSnd="0">
                  <a:extLst>
                    <a:ext uri="{A12FA001-AC4F-418D-AE19-62706E023703}">
                      <ahyp:hlinkClr xmlns:ahyp="http://schemas.microsoft.com/office/drawing/2018/hyperlinkcolor" val="tx"/>
                    </a:ext>
                  </a:extLst>
                </a:hlinkClick>
              </a:rPr>
              <a:t>Humanoid robots fight in cage match in Shanghai (Al Jazeera)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Mensch gegen Maschine: Duelle im Ring</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Erste Schaukämpfe zwischen menschlichen Sportlern und humanoiden Robotern erregten weltweites Aufsehen. Schnelle Schutzsensoren und Softwarealgorithmen verhindern dabei gefährliche Verletzungen.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08 / 30</a:t>
            </a:r>
            <a:endParaRPr lang="en-US" sz="1000" dirty="0"/>
          </a:p>
        </p:txBody>
      </p:sp>
      <p:pic>
        <p:nvPicPr>
          <p:cNvPr id="6" name="Video-Vorschau" descr="Ein menschlicher Kampfsportler im kontrollierten Sparring mit einem humanoiden Roboter.">
            <a:hlinkClick r:id="rId2" tooltip="Video auf der nächsten Folie" action="ppaction://hlinksldjump"/>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action="ppaction://hlinksldjum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action="ppaction://hlinksldjum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Ein menschlicher Kampfsportler im kontrollierten Sparring mit einem humanoiden Roboter.</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6" invalidUrl="" action="" tgtFrame="" tooltip="Auf YouTube öffnen" history="1" highlightClick="0" endSnd="0">
                  <a:extLst>
                    <a:ext uri="{A12FA001-AC4F-418D-AE19-62706E023703}">
                      <ahyp:hlinkClr xmlns:ahyp="http://schemas.microsoft.com/office/drawing/2018/hyperlinkcolor" val="tx"/>
                    </a:ext>
                  </a:extLst>
                </a:hlinkClick>
              </a:rPr>
              <a:t>First Human VS. Robot Fight in History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Laufdynamik: Sprints und Halbmarathons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Moderne Humanoide erreichen beachtliche Sprintgeschwindigkeiten und meistern in China sogar Laufstrecken von über 21 Kilometern. Elastische Sehnen und schnelle Motoren dämpfen dabei die starken Stöße auf dem harten Asphalt ab.</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09 / 30</a:t>
            </a:r>
            <a:endParaRPr lang="en-US" sz="1000" dirty="0"/>
          </a:p>
        </p:txBody>
      </p:sp>
      <p:sp>
        <p:nvSpPr>
          <p:cNvPr id="6" name="Bildplatzhalter"/>
          <p:cNvSpPr/>
          <p:nvPr/>
        </p:nvSpPr>
        <p:spPr>
          <a:xfrm>
            <a:off x="6217920" y="822960"/>
            <a:ext cx="2514600" cy="2651760"/>
          </a:xfrm>
          <a:prstGeom prst="roundRect">
            <a:avLst>
              <a:gd name="adj" fmla="val 5455"/>
            </a:avLst>
          </a:prstGeom>
          <a:solidFill>
            <a:srgbClr val="12304D"/>
          </a:solidFill>
          <a:ln w="12700">
            <a:solidFill>
              <a:srgbClr val="12304D"/>
            </a:solidFill>
            <a:prstDash val="solid"/>
          </a:ln>
        </p:spPr>
      </p:sp>
      <p:sp>
        <p:nvSpPr>
          <p:cNvPr id="7" name="Text 5"/>
          <p:cNvSpPr txBox="1"/>
          <p:nvPr/>
        </p:nvSpPr>
        <p:spPr>
          <a:xfrm>
            <a:off x="6217920" y="960120"/>
            <a:ext cx="25146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09</a:t>
            </a:r>
            <a:endParaRPr lang="en-US" sz="5400" dirty="0"/>
          </a:p>
        </p:txBody>
      </p:sp>
      <p:sp>
        <p:nvSpPr>
          <p:cNvPr id="8" name="Text 6"/>
          <p:cNvSpPr txBox="1"/>
          <p:nvPr/>
        </p:nvSpPr>
        <p:spPr>
          <a:xfrm>
            <a:off x="6446520" y="1874520"/>
            <a:ext cx="2057400" cy="1463040"/>
          </a:xfrm>
          <a:prstGeom prst="rect">
            <a:avLst/>
          </a:prstGeom>
          <a:noFill/>
          <a:ln/>
        </p:spPr>
        <p:txBody>
          <a:bodyPr wrap="square" lIns="0" tIns="0" rIns="0" bIns="0" rtlCol="0" anchor="t"/>
          <a:lstStyle/>
          <a:p>
            <a:pPr algn="ctr" indent="0" marL="0">
              <a:buNone/>
            </a:pPr>
            <a:r>
              <a:rPr lang="en-US" sz="1300" i="1" dirty="0">
                <a:solidFill>
                  <a:srgbClr val="EAF1F7"/>
                </a:solidFill>
              </a:rPr>
              <a:t>Humanoider Sprint-Roboter und ein autonomer Läufer auf der Straße beim Halbmarathon.</a:t>
            </a:r>
            <a:endParaRPr lang="en-US" sz="1300" dirty="0"/>
          </a:p>
        </p:txBody>
      </p:sp>
      <p:sp>
        <p:nvSpPr>
          <p:cNvPr id="9" name="Text 7"/>
          <p:cNvSpPr txBox="1"/>
          <p:nvPr/>
        </p:nvSpPr>
        <p:spPr>
          <a:xfrm>
            <a:off x="6217920" y="3566160"/>
            <a:ext cx="25146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Parkour und Rückwärtssaltos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Hochentwickelte Algorithmen erlauben es Robotern, über Holzkisten und schmale Balken zu springen. Nach einem Salto in der Luft berechnet der Bordcomputer die Landung in Echtzeit.</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10 / 30</a:t>
            </a:r>
            <a:endParaRPr lang="en-US" sz="1000" dirty="0"/>
          </a:p>
        </p:txBody>
      </p:sp>
      <p:pic>
        <p:nvPicPr>
          <p:cNvPr id="6" name="Video-Vorschau" descr="Atlas springt rückwärts von einem Holzkasten und landet ausbalanciert auf den Füßen.">
            <a:hlinkClick r:id="rId2" tooltip="Video auf der nächsten Folie" action="ppaction://hlinksldjump"/>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action="ppaction://hlinksldjum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action="ppaction://hlinksldjum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Atlas springt rückwärts von einem Holzkasten und landet ausbalanciert auf den Füßen.</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6" invalidUrl="" action="" tgtFrame="" tooltip="Auf YouTube öffnen" history="1" highlightClick="0" endSnd="0">
                  <a:extLst>
                    <a:ext uri="{A12FA001-AC4F-418D-AE19-62706E023703}">
                      <ahyp:hlinkClr xmlns:ahyp="http://schemas.microsoft.com/office/drawing/2018/hyperlinkcolor" val="tx"/>
                    </a:ext>
                  </a:extLst>
                </a:hlinkClick>
              </a:rPr>
              <a:t>Atlas | Partners in Parkour</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Synchrontanz und Rhythmusgefühl</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Dank präziser Bewegungssteuerung können mehrere humanoide Roboter synchron zur Musik tanzen. Diese Choreografien beweisen die erstaunliche Geschmeidigkeit und Balance moderner Maschinen.</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11 / 30</a:t>
            </a:r>
            <a:endParaRPr lang="en-US" sz="1000" dirty="0"/>
          </a:p>
        </p:txBody>
      </p:sp>
      <p:pic>
        <p:nvPicPr>
          <p:cNvPr id="6" name="Video-Vorschau" descr="Roboter tanzen synchron im Studio mit flüssigen Drehungen und Tanzschritten.">
            <a:hlinkClick r:id="rId2" tooltip="Video auf der nächsten Folie" action="ppaction://hlinksldjump"/>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action="ppaction://hlinksldjum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action="ppaction://hlinksldjum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Roboter tanzen synchron im Studio mit flüssigen Drehungen und Tanzschritten.</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6" invalidUrl="" action="" tgtFrame="" tooltip="Auf YouTube öffnen" history="1" highlightClick="0" endSnd="0">
                  <a:extLst>
                    <a:ext uri="{A12FA001-AC4F-418D-AE19-62706E023703}">
                      <ahyp:hlinkClr xmlns:ahyp="http://schemas.microsoft.com/office/drawing/2018/hyperlinkcolor" val="tx"/>
                    </a:ext>
                  </a:extLst>
                </a:hlinkClick>
              </a:rPr>
              <a:t>Do You Love Me? | Boston Dynamics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Dunkelfabriken: Roboter bauen Roboter</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In hochmodernen Werken wie in Liuzhou bauen humanoide Roboter bereits Tag und Nacht selbstständig neue Roboter zusammen. Für diese Maschinen wird in den sogenannten Dunkelfabriken überhaupt kein Licht mehr benötigt.</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12 / 30</a:t>
            </a:r>
            <a:endParaRPr lang="en-US" sz="1000" dirty="0"/>
          </a:p>
        </p:txBody>
      </p:sp>
      <p:sp>
        <p:nvSpPr>
          <p:cNvPr id="6" name="Bildplatzhalter"/>
          <p:cNvSpPr/>
          <p:nvPr/>
        </p:nvSpPr>
        <p:spPr>
          <a:xfrm>
            <a:off x="6217920" y="822960"/>
            <a:ext cx="2514600" cy="2651760"/>
          </a:xfrm>
          <a:prstGeom prst="roundRect">
            <a:avLst>
              <a:gd name="adj" fmla="val 5455"/>
            </a:avLst>
          </a:prstGeom>
          <a:solidFill>
            <a:srgbClr val="12304D"/>
          </a:solidFill>
          <a:ln w="12700">
            <a:solidFill>
              <a:srgbClr val="12304D"/>
            </a:solidFill>
            <a:prstDash val="solid"/>
          </a:ln>
        </p:spPr>
      </p:sp>
      <p:sp>
        <p:nvSpPr>
          <p:cNvPr id="7" name="Text 5"/>
          <p:cNvSpPr txBox="1"/>
          <p:nvPr/>
        </p:nvSpPr>
        <p:spPr>
          <a:xfrm>
            <a:off x="6217920" y="960120"/>
            <a:ext cx="25146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12</a:t>
            </a:r>
            <a:endParaRPr lang="en-US" sz="5400" dirty="0"/>
          </a:p>
        </p:txBody>
      </p:sp>
      <p:sp>
        <p:nvSpPr>
          <p:cNvPr id="8" name="Text 6"/>
          <p:cNvSpPr txBox="1"/>
          <p:nvPr/>
        </p:nvSpPr>
        <p:spPr>
          <a:xfrm>
            <a:off x="6446520" y="1874520"/>
            <a:ext cx="2057400" cy="1463040"/>
          </a:xfrm>
          <a:prstGeom prst="rect">
            <a:avLst/>
          </a:prstGeom>
          <a:noFill/>
          <a:ln/>
        </p:spPr>
        <p:txBody>
          <a:bodyPr wrap="square" lIns="0" tIns="0" rIns="0" bIns="0" rtlCol="0" anchor="t"/>
          <a:lstStyle/>
          <a:p>
            <a:pPr algn="ctr" indent="0" marL="0">
              <a:buNone/>
            </a:pPr>
            <a:r>
              <a:rPr lang="en-US" sz="1300" i="1" dirty="0">
                <a:solidFill>
                  <a:srgbClr val="EAF1F7"/>
                </a:solidFill>
              </a:rPr>
              <a:t>Humanoide Roboter an einer Fertigungsstraße in einer abgedunkelten Fabrikhalle.</a:t>
            </a:r>
            <a:endParaRPr lang="en-US" sz="1300" dirty="0"/>
          </a:p>
        </p:txBody>
      </p:sp>
      <p:sp>
        <p:nvSpPr>
          <p:cNvPr id="9" name="Text 7"/>
          <p:cNvSpPr txBox="1"/>
          <p:nvPr/>
        </p:nvSpPr>
        <p:spPr>
          <a:xfrm>
            <a:off x="6217920" y="3566160"/>
            <a:ext cx="25146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Tesla Optimus auf dem Montageband</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In den Werken von Tesla wird der Roboter Optimus für wiederkehrende Aufgaben in der Produktion trainiert. Er sortiert schwere Batteriezellen und lernt direkt aus den Videos menschlicher Arbeiter.</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13 / 30</a:t>
            </a:r>
            <a:endParaRPr lang="en-US" sz="1000" dirty="0"/>
          </a:p>
        </p:txBody>
      </p:sp>
      <p:pic>
        <p:nvPicPr>
          <p:cNvPr id="6" name="Foto" descr="Tesla Optimus greift zielsicher nach zylindrischen Batteriezellen und setzt sie in Träger ein.">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Tesla Optimus / Wikimedia Commons</a:t>
            </a:r>
            <a:endParaRPr lang="en-US" sz="1000" dirty="0"/>
          </a:p>
        </p:txBody>
      </p:sp>
      <p:sp>
        <p:nvSpPr>
          <p:cNvPr id="8"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2"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3" invalidUrl="" action="" tgtFrame="" tooltip="Auf YouTube öffnen" history="1" highlightClick="0" endSnd="0">
                  <a:extLst>
                    <a:ext uri="{A12FA001-AC4F-418D-AE19-62706E023703}">
                      <ahyp:hlinkClr xmlns:ahyp="http://schemas.microsoft.com/office/drawing/2018/hyperlinkcolor" val="tx"/>
                    </a:ext>
                  </a:extLst>
                </a:hlinkClick>
              </a:rPr>
              <a:t>Tesla Optimus Is Learning Everyday Tasks!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Qualitätskontrolle mit Computer Vision</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Roboter prüfen frisch produzierte Karosserieteile mit Kameras und Laserstrahlen auf Fehler. Sie entdecken winzige Kratzer im Lack schneller und gründlicher als das menschliche Auge.</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14 / 30</a:t>
            </a:r>
            <a:endParaRPr lang="en-US" sz="1000" dirty="0"/>
          </a:p>
        </p:txBody>
      </p:sp>
      <p:pic>
        <p:nvPicPr>
          <p:cNvPr id="6" name="Foto" descr="Präzisionskamera am Kopf des Roboters scannt glänzende Karosserieteile ab.">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Figure 02 und Schwerlasttransport</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Fortschrittliche Roboter wie Figure 02 platzieren bei Autobauern schwere Bauteile mit höchster Präzision in Schweißvorrichtungen. Sie nutzen beim Transport durch die Werkshallen dieselben Wege und Treppen, die ursprünglich für Menschen gebaut wurden.</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15 / 30</a:t>
            </a:r>
            <a:endParaRPr lang="en-US" sz="1000" dirty="0"/>
          </a:p>
        </p:txBody>
      </p:sp>
      <p:pic>
        <p:nvPicPr>
          <p:cNvPr id="6" name="Foto" descr="Der schwarze humanoide Roboter Figure 02 montiert Metallteile in der Fabrik.">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Autonomes Laden und Akkuwechsel</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Wenn die Batterie leer wird, laufen Fabrikroboter selbständig zu ihrer Ladestation zurück. Einige Industrieroboter können ihre Akkus sogar in wenigen Minuten gegenseitig austauschen.</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16 / 30</a:t>
            </a:r>
            <a:endParaRPr lang="en-US" sz="1000" dirty="0"/>
          </a:p>
        </p:txBody>
      </p:sp>
      <p:pic>
        <p:nvPicPr>
          <p:cNvPr id="6" name="Foto" descr="Humanoider Roboter dockt mit dem Rücken an eine magnetische Ladesäule an.">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Globaler Wettbewerb in der Fertigung</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Länder wie China, die USA und Deutschland investieren Milliarden in die heimische Roboterindustrie. Die Automatisierung gilt als wichtigster Schlüssel zur Bewältigung des Arbeitskräftemangels.</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17 / 30</a:t>
            </a:r>
            <a:endParaRPr lang="en-US" sz="1000" dirty="0"/>
          </a:p>
        </p:txBody>
      </p:sp>
      <p:pic>
        <p:nvPicPr>
          <p:cNvPr id="6" name="Foto" descr="Weltkarte mit leuchtenden Innovationszentren für fortschrittliche Robotik.">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Das Gehirn: Multimodale KI-Modelle</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Moderne Humanoide werden von Modellen gesteuert, die Sprache, Kameras und Sensoren kombinieren. Dadurch verstehen sie normale Sprachbefehle und planen Handlungen eigenständig im Raum.</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18 / 30</a:t>
            </a:r>
            <a:endParaRPr lang="en-US" sz="1000" dirty="0"/>
          </a:p>
        </p:txBody>
      </p:sp>
      <p:sp>
        <p:nvSpPr>
          <p:cNvPr id="6" name="Bildplatzhalter"/>
          <p:cNvSpPr/>
          <p:nvPr/>
        </p:nvSpPr>
        <p:spPr>
          <a:xfrm>
            <a:off x="6217920" y="822960"/>
            <a:ext cx="2514600" cy="2651760"/>
          </a:xfrm>
          <a:prstGeom prst="roundRect">
            <a:avLst>
              <a:gd name="adj" fmla="val 5455"/>
            </a:avLst>
          </a:prstGeom>
          <a:solidFill>
            <a:srgbClr val="12304D"/>
          </a:solidFill>
          <a:ln w="12700">
            <a:solidFill>
              <a:srgbClr val="12304D"/>
            </a:solidFill>
            <a:prstDash val="solid"/>
          </a:ln>
        </p:spPr>
      </p:sp>
      <p:sp>
        <p:nvSpPr>
          <p:cNvPr id="7" name="Text 5"/>
          <p:cNvSpPr txBox="1"/>
          <p:nvPr/>
        </p:nvSpPr>
        <p:spPr>
          <a:xfrm>
            <a:off x="6217920" y="960120"/>
            <a:ext cx="25146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18</a:t>
            </a:r>
            <a:endParaRPr lang="en-US" sz="5400" dirty="0"/>
          </a:p>
        </p:txBody>
      </p:sp>
      <p:sp>
        <p:nvSpPr>
          <p:cNvPr id="8" name="Text 6"/>
          <p:cNvSpPr txBox="1"/>
          <p:nvPr/>
        </p:nvSpPr>
        <p:spPr>
          <a:xfrm>
            <a:off x="6446520" y="1874520"/>
            <a:ext cx="2057400" cy="1463040"/>
          </a:xfrm>
          <a:prstGeom prst="rect">
            <a:avLst/>
          </a:prstGeom>
          <a:noFill/>
          <a:ln/>
        </p:spPr>
        <p:txBody>
          <a:bodyPr wrap="square" lIns="0" tIns="0" rIns="0" bIns="0" rtlCol="0" anchor="t"/>
          <a:lstStyle/>
          <a:p>
            <a:pPr algn="ctr" indent="0" marL="0">
              <a:buNone/>
            </a:pPr>
            <a:r>
              <a:rPr lang="en-US" sz="1300" i="1" dirty="0">
                <a:solidFill>
                  <a:srgbClr val="EAF1F7"/>
                </a:solidFill>
              </a:rPr>
              <a:t>Grafische Darstellung eines neuronalen Netzwerks, das Sensorik und Motorik vernetzt.</a:t>
            </a:r>
            <a:endParaRPr lang="en-US" sz="1300" dirty="0"/>
          </a:p>
        </p:txBody>
      </p:sp>
      <p:sp>
        <p:nvSpPr>
          <p:cNvPr id="9" name="Text 7"/>
          <p:cNvSpPr txBox="1"/>
          <p:nvPr/>
        </p:nvSpPr>
        <p:spPr>
          <a:xfrm>
            <a:off x="6217920" y="3566160"/>
            <a:ext cx="25146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Taktile Hände und Feingefühl</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Bionische Hände besitzen heute bis zu zwanzig bewegliche Gelenke und weiche Drucksensoren. Damit kann ein Roboter ein zerbrechliches Ei sicher halten, ohne die Schale einzudrücken.</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19 / 30</a:t>
            </a:r>
            <a:endParaRPr lang="en-US" sz="1000" dirty="0"/>
          </a:p>
        </p:txBody>
      </p:sp>
      <p:pic>
        <p:nvPicPr>
          <p:cNvPr id="6" name="Foto" descr="Taktile Roboterfinger mit weichen Silikonkappen greifen behutsam ein Hühnerei.">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Lernen im digitalen Zwilling</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In Computersimulationen wie NVIDIA Isaac Sim trainieren Roboter Millionen Aufgaben im Zeitraffer. Was die KI virtuell gelernt hat, funktioniert anschließend sofort in der echten Welt.</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20 / 30</a:t>
            </a:r>
            <a:endParaRPr lang="en-US" sz="1000" dirty="0"/>
          </a:p>
        </p:txBody>
      </p:sp>
      <p:pic>
        <p:nvPicPr>
          <p:cNvPr id="6" name="Video-Vorschau" descr="3D-Physiksimulation am Monitor zeigt Hunderte parallele virtuelle Trainingsroboter.">
            <a:hlinkClick r:id="rId2" tooltip="Video auf der nächsten Folie" action="ppaction://hlinksldjump"/>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action="ppaction://hlinksldjum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action="ppaction://hlinksldjum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6" invalidUrl="" action="" tgtFrame="" tooltip="Auf YouTube öffnen" history="1" highlightClick="0" endSnd="0">
                  <a:extLst>
                    <a:ext uri="{A12FA001-AC4F-418D-AE19-62706E023703}">
                      <ahyp:hlinkClr xmlns:ahyp="http://schemas.microsoft.com/office/drawing/2018/hyperlinkcolor" val="tx"/>
                    </a:ext>
                  </a:extLst>
                </a:hlinkClick>
              </a:rPr>
              <a:t>Simulate Robot Fleets in Digital Twins (NVIDIA Omniverse)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Balance und nachgiebige Gelenke</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Spezielle Kraftsensoren und schnelle Algorithmen lassen Roboter selbst bei Stößen oder auf glattem Eis das Gleichgewicht halten. Bei direktem Kontakt mit Menschen stoppen die Gelenke sofort nachgiebig, um Unfälle in Wohnungen zu vermeiden.</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21 / 30</a:t>
            </a:r>
            <a:endParaRPr lang="en-US" sz="1000" dirty="0"/>
          </a:p>
        </p:txBody>
      </p:sp>
      <p:pic>
        <p:nvPicPr>
          <p:cNvPr id="6" name="Video-Vorschau" descr="Sanfte Berührung zwischen einem menschlichen Arm und einem weich nachgebenden Roboterarm.">
            <a:hlinkClick r:id="rId2" tooltip="Video auf der nächsten Folie" action="ppaction://hlinksldjump"/>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action="ppaction://hlinksldjum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action="ppaction://hlinksldjum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6" invalidUrl="" action="" tgtFrame="" tooltip="Auf YouTube öffnen" history="1" highlightClick="0" endSnd="0">
                  <a:extLst>
                    <a:ext uri="{A12FA001-AC4F-418D-AE19-62706E023703}">
                      <ahyp:hlinkClr xmlns:ahyp="http://schemas.microsoft.com/office/drawing/2018/hyperlinkcolor" val="tx"/>
                    </a:ext>
                  </a:extLst>
                </a:hlinkClick>
              </a:rPr>
              <a:t>Unitree Humanoid Withstands Kicks and Shoves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Kompakte Aktuatoren und Akkus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Anstelle von schweren Ölschläuchen nutzen moderne Roboter kompakte Elektromotoren und effiziente Festkörperakkus für mehrstündige Einsätze. Beim Abbremsen speisen diese Antriebe wie bei einem Elektroauto Energie zurück in den Speicher.</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22 / 30</a:t>
            </a:r>
            <a:endParaRPr lang="en-US" sz="1000" dirty="0"/>
          </a:p>
        </p:txBody>
      </p:sp>
      <p:pic>
        <p:nvPicPr>
          <p:cNvPr id="6" name="Video-Vorschau" descr="Querschnitt eines Elektromotors und ein modulares Akkupaket.">
            <a:hlinkClick r:id="rId2" tooltip="Video auf der nächsten Folie" action="ppaction://hlinksldjump"/>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action="ppaction://hlinksldjum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action="ppaction://hlinksldjum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6" invalidUrl="" action="" tgtFrame="" tooltip="Auf YouTube öffnen" history="1" highlightClick="0" endSnd="0">
                  <a:extLst>
                    <a:ext uri="{A12FA001-AC4F-418D-AE19-62706E023703}">
                      <ahyp:hlinkClr xmlns:ahyp="http://schemas.microsoft.com/office/drawing/2018/hyperlinkcolor" val="tx"/>
                    </a:ext>
                  </a:extLst>
                </a:hlinkClick>
              </a:rPr>
              <a:t>Humanoid Robot Can Swap Its Own Battery Pack (CNET)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3D-Sehen mit LiDAR und Kameras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Durch die Kombination von Tiefenkameras und Laserscannern baut der Roboter eine Echtzeit-Karte auf. Er erkennt bewegte Hindernisse sofort und läuft sicher an Menschen und Haustieren vorbei.</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23 / 30</a:t>
            </a:r>
            <a:endParaRPr lang="en-US" sz="1000" dirty="0"/>
          </a:p>
        </p:txBody>
      </p:sp>
      <p:pic>
        <p:nvPicPr>
          <p:cNvPr id="6" name="Video-Vorschau" descr="3D-Tiefenkarte eines Wohnraums mit erkannten Objekten und Hindernissen.">
            <a:hlinkClick r:id="rId2" tooltip="Video auf der nächsten Folie" action="ppaction://hlinksldjump"/>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action="ppaction://hlinksldjum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action="ppaction://hlinksldjum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6" invalidUrl="" action="" tgtFrame="" tooltip="Auf YouTube öffnen" history="1" highlightClick="0" endSnd="0">
                  <a:extLst>
                    <a:ext uri="{A12FA001-AC4F-418D-AE19-62706E023703}">
                      <ahyp:hlinkClr xmlns:ahyp="http://schemas.microsoft.com/office/drawing/2018/hyperlinkcolor" val="tx"/>
                    </a:ext>
                  </a:extLst>
                </a:hlinkClick>
              </a:rPr>
              <a:t>How Robots Build Maps (LiDAR + SLAM Explained)</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1X NEO: Der Traum vom Roboter-Butler</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Technologieunternehmen wie 1X entwickeln leise, textilgekleidete Roboter, die den Menschen im privaten Wohnbereich sicher unterstützen. Sie sollen als Roboter-Butler den Alltag spürbar erleichtern und bei schweren Routinetätigkeiten helfen.</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24 / 30</a:t>
            </a:r>
            <a:endParaRPr lang="en-US" sz="1000" dirty="0"/>
          </a:p>
        </p:txBody>
      </p:sp>
      <p:pic>
        <p:nvPicPr>
          <p:cNvPr id="6" name="Video-Vorschau" descr="1X NEO im Wohnzimmer in gemütlicher Umgebung auf Augenhöhe mit den Bewohnern.">
            <a:hlinkClick r:id="rId2" tooltip="Video auf der nächsten Folie" action="ppaction://hlinksldjump"/>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action="ppaction://hlinksldjum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action="ppaction://hlinksldjum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1X NEO im Wohnzimmer in gemütlicher Umgebung auf Augenhöhe mit den Bewohnern.</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6" invalidUrl="" action="" tgtFrame="" tooltip="Auf YouTube öffnen" history="1" highlightClick="0" endSnd="0">
                  <a:extLst>
                    <a:ext uri="{A12FA001-AC4F-418D-AE19-62706E023703}">
                      <ahyp:hlinkClr xmlns:ahyp="http://schemas.microsoft.com/office/drawing/2018/hyperlinkcolor" val="tx"/>
                    </a:ext>
                  </a:extLst>
                </a:hlinkClick>
              </a:rPr>
              <a:t>NEO is Starting to Learn on Its Own (1X)</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Hausarbeiten und erschwingliche Modelle</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Durch maschinelles Lernen meistern Roboter wie der günstige Unitree G1 alltägliche Aufgaben wie das Zusammenfalten von Wäsche. Sinkende Preise unter 16.000 Dollar machen diese Helfer zunehmend auch für Privathaushalte und Entwickler bezahlbar.</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25 / 30</a:t>
            </a:r>
            <a:endParaRPr lang="en-US" sz="1000" dirty="0"/>
          </a:p>
        </p:txBody>
      </p:sp>
      <p:pic>
        <p:nvPicPr>
          <p:cNvPr id="6" name="Video-Vorschau" descr="Roboterhände falten ein weißes Handtuch, daneben der kompakte Unitree G1.">
            <a:hlinkClick r:id="rId2" tooltip="Video auf der nächsten Folie" action="ppaction://hlinksldjump"/>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action="ppaction://hlinksldjum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action="ppaction://hlinksldjum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6" invalidUrl="" action="" tgtFrame="" tooltip="Auf YouTube öffnen" history="1" highlightClick="0" endSnd="0">
                  <a:extLst>
                    <a:ext uri="{A12FA001-AC4F-418D-AE19-62706E023703}">
                      <ahyp:hlinkClr xmlns:ahyp="http://schemas.microsoft.com/office/drawing/2018/hyperlinkcolor" val="tx"/>
                    </a:ext>
                  </a:extLst>
                </a:hlinkClick>
              </a:rPr>
              <a:t>San Francisco company debuts laundry-folding robot (KTVU)</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Unterstützung für Senioren und Pflege</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In alternden Gesellschaften können Roboter älteren Menschen beim Aufstehen und Gehen helfen. Sie erinnern verlässlich an wichtige Medikamente und rufen im Notfall sofort ärztliche Hilfe.</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26 / 30</a:t>
            </a:r>
            <a:endParaRPr lang="en-US" sz="1000" dirty="0"/>
          </a:p>
        </p:txBody>
      </p:sp>
      <p:pic>
        <p:nvPicPr>
          <p:cNvPr id="6" name="Video-Vorschau" descr="Roboter stützt sanft eine ältere Person beim Gehen im Flur eines Seniorenheims.">
            <a:hlinkClick r:id="rId2" tooltip="Video auf der nächsten Folie" action="ppaction://hlinksldjump"/>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action="ppaction://hlinksldjum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action="ppaction://hlinksldjum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6" invalidUrl="" action="" tgtFrame="" tooltip="Auf YouTube öffnen" history="1" highlightClick="0" endSnd="0">
                  <a:extLst>
                    <a:ext uri="{A12FA001-AC4F-418D-AE19-62706E023703}">
                      <ahyp:hlinkClr xmlns:ahyp="http://schemas.microsoft.com/office/drawing/2018/hyperlinkcolor" val="tx"/>
                    </a:ext>
                  </a:extLst>
                </a:hlinkClick>
              </a:rPr>
              <a:t>Meet Abi, the humanoid robot in care homes (Reuters)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Marktprognosen und Mietmodelle (RaaS)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Bis 2030 könnten über 500.000 humanoide Roboter im Einsatz sein, von denen viele monatlich gemietet statt gekauft werden. Der Hersteller kümmert sich bei diesem Dienstleistungsmodell um alle Software-Updates und Reparaturen.</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27 / 30</a:t>
            </a:r>
            <a:endParaRPr lang="en-US" sz="1000" dirty="0"/>
          </a:p>
        </p:txBody>
      </p:sp>
      <p:pic>
        <p:nvPicPr>
          <p:cNvPr id="6" name="Video-Vorschau" descr="Wachstumsdiagramm und eine Tablet-App für die Roboter-Miete.">
            <a:hlinkClick r:id="rId2" tooltip="Video auf der nächsten Folie" action="ppaction://hlinksldjump"/>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action="ppaction://hlinksldjum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action="ppaction://hlinksldjum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6" invalidUrl="" action="" tgtFrame="" tooltip="Auf YouTube öffnen" history="1" highlightClick="0" endSnd="0">
                  <a:extLst>
                    <a:ext uri="{A12FA001-AC4F-418D-AE19-62706E023703}">
                      <ahyp:hlinkClr xmlns:ahyp="http://schemas.microsoft.com/office/drawing/2018/hyperlinkcolor" val="tx"/>
                    </a:ext>
                  </a:extLst>
                </a:hlinkClick>
              </a:rPr>
              <a:t>Rentable humanoid robots (CBS Texas)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Datenschutz und ethische Regeln</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Da Haushaltsroboter Kameras und Mikrofone besitzen, müssen persönliche Daten streng geschützt werden. Internationale Richtlinien stellen sicher, dass alle Aufnahmen privat auf dem Gerät bleiben.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28 / 30</a:t>
            </a:r>
            <a:endParaRPr lang="en-US" sz="1000" dirty="0"/>
          </a:p>
        </p:txBody>
      </p:sp>
      <p:pic>
        <p:nvPicPr>
          <p:cNvPr id="6" name="Video-Vorschau" descr="Ein digitales Schloss-Symbol vor einem Wohnzimmer-Hintergrund für Datenschutz.">
            <a:hlinkClick r:id="rId2" tooltip="Video auf der nächsten Folie" action="ppaction://hlinksldjump"/>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action="ppaction://hlinksldjum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action="ppaction://hlinksldjum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6" invalidUrl="" action="" tgtFrame="" tooltip="Auf YouTube öffnen" history="1" highlightClick="0" endSnd="0">
                  <a:extLst>
                    <a:ext uri="{A12FA001-AC4F-418D-AE19-62706E023703}">
                      <ahyp:hlinkClr xmlns:ahyp="http://schemas.microsoft.com/office/drawing/2018/hyperlinkcolor" val="tx"/>
                    </a:ext>
                  </a:extLst>
                </a:hlinkClick>
              </a:rPr>
              <a:t>I Tried the First Humanoid Home Robot (WSJ)</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Aktuelle Hürden: Akkulaufzeit und Preis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Vor dem endgültigen Massendurchbruch müssen die Produktionskosten weiter fallen und die Akkulaufzeit steigen. Experten sind zuversichtlich, dass diese Herausforderungen schon bald gelöst werden.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29 / 30</a:t>
            </a:r>
            <a:endParaRPr lang="en-US" sz="1000" dirty="0"/>
          </a:p>
        </p:txBody>
      </p:sp>
      <p:pic>
        <p:nvPicPr>
          <p:cNvPr id="6" name="Video-Vorschau" descr="Ingenieure prüfen neue Materialien und Batterien im Entwicklungszentrum.">
            <a:hlinkClick r:id="rId2" tooltip="Video auf der nächsten Folie" action="ppaction://hlinksldjump"/>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action="ppaction://hlinksldjum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action="ppaction://hlinksldjum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6" invalidUrl="" action="" tgtFrame="" tooltip="Auf YouTube öffnen" history="1" highlightClick="0" endSnd="0">
                  <a:extLst>
                    <a:ext uri="{A12FA001-AC4F-418D-AE19-62706E023703}">
                      <ahyp:hlinkClr xmlns:ahyp="http://schemas.microsoft.com/office/drawing/2018/hyperlinkcolor" val="tx"/>
                    </a:ext>
                  </a:extLst>
                </a:hlinkClick>
              </a:rPr>
              <a:t>Battery Life Doubled from 4 to 8 Hours (The Neuron)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FAZIT &amp; AUSBLICK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Die Zukunft: Mensch und Roboter als Team</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Humanoide Roboter entwickeln sich rasant von Laborversuchen zu verlässlichen Partnern für Arbeit und Alltag. Sie werden uns schwere Lasten abnehmen und unser Zusammenleben nachhaltig verändern.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30 / 30</a:t>
            </a:r>
            <a:endParaRPr lang="en-US" sz="1000" dirty="0"/>
          </a:p>
        </p:txBody>
      </p:sp>
      <p:pic>
        <p:nvPicPr>
          <p:cNvPr id="6" name="Video-Vorschau" descr="Mensch und humanoider Roboter stehen gemeinsam auf einer Aussichtsplattform.">
            <a:hlinkClick r:id="rId2" tooltip="Video auf der nächsten Folie" action="ppaction://hlinksldjump"/>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action="ppaction://hlinksldjum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action="ppaction://hlinksldjum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 Video ansehen (nächste Folie)</a:t>
            </a:r>
            <a:endParaRPr lang="en-US" sz="1300" dirty="0"/>
          </a:p>
          <a:p>
            <a:pPr indent="0" marL="0">
              <a:buNone/>
            </a:pPr>
            <a:r>
              <a:rPr lang="en-US" sz="1100" u="sng" dirty="0">
                <a:solidFill>
                  <a:schemeClr val="accent3"/>
                </a:solidFill>
                <a:hlinkClick r:id="rId6" invalidUrl="" action="" tgtFrame="" tooltip="Auf YouTube öffnen" history="1" highlightClick="0" endSnd="0">
                  <a:extLst>
                    <a:ext uri="{A12FA001-AC4F-418D-AE19-62706E023703}">
                      <ahyp:hlinkClr xmlns:ahyp="http://schemas.microsoft.com/office/drawing/2018/hyperlinkcolor" val="tx"/>
                    </a:ext>
                  </a:extLst>
                </a:hlinkClick>
              </a:rPr>
              <a:t>Will humans and robots work together soon? (CGTN)</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3" name="Video"/>
          <p:cNvPicPr/>
          <p:nvPr>
            <a:videoFile r:link="rId1"/>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Humanoide Roboter">
  <a:themeElements>
    <a:clrScheme name="Humanoide Roboter">
      <a:dk1>
        <a:srgbClr val="0B1F33"/>
      </a:dk1>
      <a:lt1>
        <a:srgbClr val="FFFFFF"/>
      </a:lt1>
      <a:dk2>
        <a:srgbClr val="12304D"/>
      </a:dk2>
      <a:lt2>
        <a:srgbClr val="EAF1F7"/>
      </a:lt2>
      <a:accent1>
        <a:srgbClr val="FF7A1A"/>
      </a:accent1>
      <a:accent2>
        <a:srgbClr val="1FA2A6"/>
      </a:accent2>
      <a:accent3>
        <a:srgbClr val="5B7C99"/>
      </a:accent3>
      <a:accent4>
        <a:srgbClr val="F2B134"/>
      </a:accent4>
      <a:accent5>
        <a:srgbClr val="3A6EA5"/>
      </a:accent5>
      <a:accent6>
        <a:srgbClr val="8FB8D8"/>
      </a:accent6>
      <a:hlink>
        <a:srgbClr val="FF7A1A"/>
      </a:hlink>
      <a:folHlink>
        <a:srgbClr val="C9651A"/>
      </a:folHlink>
    </a:clrScheme>
    <a:fontScheme name="Humanoide Robo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Humanoide Roboter: Geschichte und Gegenwart</dc:title>
  <dc:subject>PptxGenJS Presentation</dc:subject>
  <dc:creator>PptxGenJS</dc:creator>
  <cp:lastModifiedBy>PptxGenJS</cp:lastModifiedBy>
  <cp:revision>1</cp:revision>
  <dcterms:created xsi:type="dcterms:W3CDTF">2026-10-30T08:44:50Z</dcterms:created>
  <dcterms:modified xsi:type="dcterms:W3CDTF">2026-10-30T08:44:50Z</dcterms:modified>
</cp:coreProperties>
</file>